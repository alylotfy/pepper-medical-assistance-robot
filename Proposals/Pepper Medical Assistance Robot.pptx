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69" r:id="rId5"/>
    <p:sldId id="270" r:id="rId6"/>
    <p:sldId id="258" r:id="rId7"/>
    <p:sldId id="259" r:id="rId8"/>
    <p:sldId id="272" r:id="rId9"/>
    <p:sldId id="271" r:id="rId10"/>
    <p:sldId id="266" r:id="rId11"/>
    <p:sldId id="260" r:id="rId12"/>
    <p:sldId id="273" r:id="rId13"/>
    <p:sldId id="274" r:id="rId14"/>
    <p:sldId id="275" r:id="rId15"/>
    <p:sldId id="276" r:id="rId16"/>
    <p:sldId id="277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78" r:id="rId33"/>
    <p:sldId id="279" r:id="rId34"/>
    <p:sldId id="261" r:id="rId35"/>
    <p:sldId id="280" r:id="rId36"/>
    <p:sldId id="281" r:id="rId37"/>
    <p:sldId id="282" r:id="rId38"/>
    <p:sldId id="283" r:id="rId39"/>
    <p:sldId id="267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0A8324-24B6-4304-90CE-528B69D9974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388AACD-281D-48F1-BE68-42C73591A426}">
      <dgm:prSet/>
      <dgm:spPr/>
      <dgm:t>
        <a:bodyPr/>
        <a:lstStyle/>
        <a:p>
          <a:r>
            <a:rPr lang="en-US" b="0" i="0" baseline="0"/>
            <a:t>Autonomous navigation to guide patients.</a:t>
          </a:r>
          <a:endParaRPr lang="en-US"/>
        </a:p>
      </dgm:t>
    </dgm:pt>
    <dgm:pt modelId="{2E10DA59-0C10-4C67-B08D-D14C2F65819A}" type="parTrans" cxnId="{9530492D-E6FF-4F0F-AEDF-29874A500027}">
      <dgm:prSet/>
      <dgm:spPr/>
      <dgm:t>
        <a:bodyPr/>
        <a:lstStyle/>
        <a:p>
          <a:endParaRPr lang="en-US"/>
        </a:p>
      </dgm:t>
    </dgm:pt>
    <dgm:pt modelId="{6B76F2B0-4467-46EB-BC6D-F5CAE32D521F}" type="sibTrans" cxnId="{9530492D-E6FF-4F0F-AEDF-29874A500027}">
      <dgm:prSet/>
      <dgm:spPr/>
      <dgm:t>
        <a:bodyPr/>
        <a:lstStyle/>
        <a:p>
          <a:endParaRPr lang="en-US"/>
        </a:p>
      </dgm:t>
    </dgm:pt>
    <dgm:pt modelId="{D83CB150-B867-4FE5-847A-46B39DA85807}">
      <dgm:prSet/>
      <dgm:spPr/>
      <dgm:t>
        <a:bodyPr/>
        <a:lstStyle/>
        <a:p>
          <a:r>
            <a:rPr lang="en-US" b="0" i="0" baseline="0"/>
            <a:t>Integration with hospital EMR systems.</a:t>
          </a:r>
          <a:endParaRPr lang="en-US"/>
        </a:p>
      </dgm:t>
    </dgm:pt>
    <dgm:pt modelId="{73FEF438-1441-472D-BE18-CE3017F99387}" type="parTrans" cxnId="{8EF201B2-2A80-4015-A182-1C6CB8FBD98F}">
      <dgm:prSet/>
      <dgm:spPr/>
      <dgm:t>
        <a:bodyPr/>
        <a:lstStyle/>
        <a:p>
          <a:endParaRPr lang="en-US"/>
        </a:p>
      </dgm:t>
    </dgm:pt>
    <dgm:pt modelId="{4835BF14-5F07-4115-BB4D-5C1D4F6718B1}" type="sibTrans" cxnId="{8EF201B2-2A80-4015-A182-1C6CB8FBD98F}">
      <dgm:prSet/>
      <dgm:spPr/>
      <dgm:t>
        <a:bodyPr/>
        <a:lstStyle/>
        <a:p>
          <a:endParaRPr lang="en-US"/>
        </a:p>
      </dgm:t>
    </dgm:pt>
    <dgm:pt modelId="{9E38D9EE-0E3F-4201-89BE-A8432C0D6E26}">
      <dgm:prSet/>
      <dgm:spPr/>
      <dgm:t>
        <a:bodyPr/>
        <a:lstStyle/>
        <a:p>
          <a:r>
            <a:rPr lang="en-US" b="0" i="0" baseline="0"/>
            <a:t>Advanced triage (vitals monitoring, AI-based assessment).</a:t>
          </a:r>
          <a:endParaRPr lang="en-US"/>
        </a:p>
      </dgm:t>
    </dgm:pt>
    <dgm:pt modelId="{7187784E-37D7-4502-99C5-8F823A7B3043}" type="parTrans" cxnId="{E41304E3-CD44-4B54-8657-CF9E9BE540B0}">
      <dgm:prSet/>
      <dgm:spPr/>
      <dgm:t>
        <a:bodyPr/>
        <a:lstStyle/>
        <a:p>
          <a:endParaRPr lang="en-US"/>
        </a:p>
      </dgm:t>
    </dgm:pt>
    <dgm:pt modelId="{05C4C3AE-EA5A-4F90-9DA0-68BD689280DD}" type="sibTrans" cxnId="{E41304E3-CD44-4B54-8657-CF9E9BE540B0}">
      <dgm:prSet/>
      <dgm:spPr/>
      <dgm:t>
        <a:bodyPr/>
        <a:lstStyle/>
        <a:p>
          <a:endParaRPr lang="en-US"/>
        </a:p>
      </dgm:t>
    </dgm:pt>
    <dgm:pt modelId="{68543C91-8B2D-45A1-B328-D16DD5F62703}">
      <dgm:prSet/>
      <dgm:spPr/>
      <dgm:t>
        <a:bodyPr/>
        <a:lstStyle/>
        <a:p>
          <a:r>
            <a:rPr lang="en-US" b="0" i="0" baseline="0" dirty="0"/>
            <a:t>Telepresence capabilities(Case Study)</a:t>
          </a:r>
          <a:endParaRPr lang="en-US" dirty="0"/>
        </a:p>
      </dgm:t>
    </dgm:pt>
    <dgm:pt modelId="{5451D257-80EF-4275-95BC-8A656F77191B}" type="parTrans" cxnId="{30972376-23F8-485D-974F-525E04AA5E67}">
      <dgm:prSet/>
      <dgm:spPr/>
      <dgm:t>
        <a:bodyPr/>
        <a:lstStyle/>
        <a:p>
          <a:endParaRPr lang="en-US"/>
        </a:p>
      </dgm:t>
    </dgm:pt>
    <dgm:pt modelId="{359BFEAE-2B48-4A8F-92B7-3AA8A46201DC}" type="sibTrans" cxnId="{30972376-23F8-485D-974F-525E04AA5E67}">
      <dgm:prSet/>
      <dgm:spPr/>
      <dgm:t>
        <a:bodyPr/>
        <a:lstStyle/>
        <a:p>
          <a:endParaRPr lang="en-US"/>
        </a:p>
      </dgm:t>
    </dgm:pt>
    <dgm:pt modelId="{7CB815CF-9E50-42FF-90B4-981719B13B4A}" type="pres">
      <dgm:prSet presAssocID="{0E0A8324-24B6-4304-90CE-528B69D99742}" presName="root" presStyleCnt="0">
        <dgm:presLayoutVars>
          <dgm:dir/>
          <dgm:resizeHandles val="exact"/>
        </dgm:presLayoutVars>
      </dgm:prSet>
      <dgm:spPr/>
    </dgm:pt>
    <dgm:pt modelId="{34AE3269-1543-4EB8-A837-37F8CBD41757}" type="pres">
      <dgm:prSet presAssocID="{D388AACD-281D-48F1-BE68-42C73591A426}" presName="compNode" presStyleCnt="0"/>
      <dgm:spPr/>
    </dgm:pt>
    <dgm:pt modelId="{8B883CEA-7EAA-430D-87B4-D09BDBB7131C}" type="pres">
      <dgm:prSet presAssocID="{D388AACD-281D-48F1-BE68-42C73591A42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ass"/>
        </a:ext>
      </dgm:extLst>
    </dgm:pt>
    <dgm:pt modelId="{D10F07F2-8D05-44C6-B45E-8D38573829E5}" type="pres">
      <dgm:prSet presAssocID="{D388AACD-281D-48F1-BE68-42C73591A426}" presName="spaceRect" presStyleCnt="0"/>
      <dgm:spPr/>
    </dgm:pt>
    <dgm:pt modelId="{E88EDB15-914C-4D66-9E41-3E4B2E62E8FA}" type="pres">
      <dgm:prSet presAssocID="{D388AACD-281D-48F1-BE68-42C73591A426}" presName="textRect" presStyleLbl="revTx" presStyleIdx="0" presStyleCnt="4">
        <dgm:presLayoutVars>
          <dgm:chMax val="1"/>
          <dgm:chPref val="1"/>
        </dgm:presLayoutVars>
      </dgm:prSet>
      <dgm:spPr/>
    </dgm:pt>
    <dgm:pt modelId="{749CE111-4865-488A-8E15-DE88263230C3}" type="pres">
      <dgm:prSet presAssocID="{6B76F2B0-4467-46EB-BC6D-F5CAE32D521F}" presName="sibTrans" presStyleCnt="0"/>
      <dgm:spPr/>
    </dgm:pt>
    <dgm:pt modelId="{8BAD7271-B8C4-4B0E-A9A1-24FA2B33FE1B}" type="pres">
      <dgm:prSet presAssocID="{D83CB150-B867-4FE5-847A-46B39DA85807}" presName="compNode" presStyleCnt="0"/>
      <dgm:spPr/>
    </dgm:pt>
    <dgm:pt modelId="{6F4386E0-98FB-444A-A8D6-19F72E50B459}" type="pres">
      <dgm:prSet presAssocID="{D83CB150-B867-4FE5-847A-46B39DA8580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bulance"/>
        </a:ext>
      </dgm:extLst>
    </dgm:pt>
    <dgm:pt modelId="{B9C05F4B-CEC0-48F0-93C9-7DDEDC8886CB}" type="pres">
      <dgm:prSet presAssocID="{D83CB150-B867-4FE5-847A-46B39DA85807}" presName="spaceRect" presStyleCnt="0"/>
      <dgm:spPr/>
    </dgm:pt>
    <dgm:pt modelId="{57DE4C49-367A-4197-96C5-81B4CD14462D}" type="pres">
      <dgm:prSet presAssocID="{D83CB150-B867-4FE5-847A-46B39DA85807}" presName="textRect" presStyleLbl="revTx" presStyleIdx="1" presStyleCnt="4">
        <dgm:presLayoutVars>
          <dgm:chMax val="1"/>
          <dgm:chPref val="1"/>
        </dgm:presLayoutVars>
      </dgm:prSet>
      <dgm:spPr/>
    </dgm:pt>
    <dgm:pt modelId="{EF08EA67-15CE-4B03-9D13-C94994CA64FF}" type="pres">
      <dgm:prSet presAssocID="{4835BF14-5F07-4115-BB4D-5C1D4F6718B1}" presName="sibTrans" presStyleCnt="0"/>
      <dgm:spPr/>
    </dgm:pt>
    <dgm:pt modelId="{9C37D29A-A058-432C-B85C-E3FDE984B1A6}" type="pres">
      <dgm:prSet presAssocID="{9E38D9EE-0E3F-4201-89BE-A8432C0D6E26}" presName="compNode" presStyleCnt="0"/>
      <dgm:spPr/>
    </dgm:pt>
    <dgm:pt modelId="{2BFAB715-C0DD-4017-A566-3550CCFD3807}" type="pres">
      <dgm:prSet presAssocID="{9E38D9EE-0E3F-4201-89BE-A8432C0D6E2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673D501-FBCE-41A7-A0A9-E302C23CFD8E}" type="pres">
      <dgm:prSet presAssocID="{9E38D9EE-0E3F-4201-89BE-A8432C0D6E26}" presName="spaceRect" presStyleCnt="0"/>
      <dgm:spPr/>
    </dgm:pt>
    <dgm:pt modelId="{7288DDB4-7184-4A2C-ACB0-CF18452F37AD}" type="pres">
      <dgm:prSet presAssocID="{9E38D9EE-0E3F-4201-89BE-A8432C0D6E26}" presName="textRect" presStyleLbl="revTx" presStyleIdx="2" presStyleCnt="4">
        <dgm:presLayoutVars>
          <dgm:chMax val="1"/>
          <dgm:chPref val="1"/>
        </dgm:presLayoutVars>
      </dgm:prSet>
      <dgm:spPr/>
    </dgm:pt>
    <dgm:pt modelId="{F0493C59-8B9C-43F1-A98E-A68901234A31}" type="pres">
      <dgm:prSet presAssocID="{05C4C3AE-EA5A-4F90-9DA0-68BD689280DD}" presName="sibTrans" presStyleCnt="0"/>
      <dgm:spPr/>
    </dgm:pt>
    <dgm:pt modelId="{C77F386D-19FE-41BD-BBE9-4028A351AA6F}" type="pres">
      <dgm:prSet presAssocID="{68543C91-8B2D-45A1-B328-D16DD5F62703}" presName="compNode" presStyleCnt="0"/>
      <dgm:spPr/>
    </dgm:pt>
    <dgm:pt modelId="{C29BC087-0973-4EBB-875A-AF796DC07ADB}" type="pres">
      <dgm:prSet presAssocID="{68543C91-8B2D-45A1-B328-D16DD5F6270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515DB897-A48F-478B-8BF6-2C1B6EAF3851}" type="pres">
      <dgm:prSet presAssocID="{68543C91-8B2D-45A1-B328-D16DD5F62703}" presName="spaceRect" presStyleCnt="0"/>
      <dgm:spPr/>
    </dgm:pt>
    <dgm:pt modelId="{F664912C-5606-49B3-B35C-FD5EE9355417}" type="pres">
      <dgm:prSet presAssocID="{68543C91-8B2D-45A1-B328-D16DD5F6270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8986F18-143B-4B46-9C45-D9637CDAD254}" type="presOf" srcId="{0E0A8324-24B6-4304-90CE-528B69D99742}" destId="{7CB815CF-9E50-42FF-90B4-981719B13B4A}" srcOrd="0" destOrd="0" presId="urn:microsoft.com/office/officeart/2018/2/layout/IconLabelList"/>
    <dgm:cxn modelId="{9530492D-E6FF-4F0F-AEDF-29874A500027}" srcId="{0E0A8324-24B6-4304-90CE-528B69D99742}" destId="{D388AACD-281D-48F1-BE68-42C73591A426}" srcOrd="0" destOrd="0" parTransId="{2E10DA59-0C10-4C67-B08D-D14C2F65819A}" sibTransId="{6B76F2B0-4467-46EB-BC6D-F5CAE32D521F}"/>
    <dgm:cxn modelId="{DF91F34C-ABD7-4B96-BCA8-ADB80E5929D3}" type="presOf" srcId="{D388AACD-281D-48F1-BE68-42C73591A426}" destId="{E88EDB15-914C-4D66-9E41-3E4B2E62E8FA}" srcOrd="0" destOrd="0" presId="urn:microsoft.com/office/officeart/2018/2/layout/IconLabelList"/>
    <dgm:cxn modelId="{30972376-23F8-485D-974F-525E04AA5E67}" srcId="{0E0A8324-24B6-4304-90CE-528B69D99742}" destId="{68543C91-8B2D-45A1-B328-D16DD5F62703}" srcOrd="3" destOrd="0" parTransId="{5451D257-80EF-4275-95BC-8A656F77191B}" sibTransId="{359BFEAE-2B48-4A8F-92B7-3AA8A46201DC}"/>
    <dgm:cxn modelId="{4C62FE58-4399-4550-A164-70776162AAE1}" type="presOf" srcId="{9E38D9EE-0E3F-4201-89BE-A8432C0D6E26}" destId="{7288DDB4-7184-4A2C-ACB0-CF18452F37AD}" srcOrd="0" destOrd="0" presId="urn:microsoft.com/office/officeart/2018/2/layout/IconLabelList"/>
    <dgm:cxn modelId="{84388990-4963-4461-A957-FD9BEED2F15F}" type="presOf" srcId="{D83CB150-B867-4FE5-847A-46B39DA85807}" destId="{57DE4C49-367A-4197-96C5-81B4CD14462D}" srcOrd="0" destOrd="0" presId="urn:microsoft.com/office/officeart/2018/2/layout/IconLabelList"/>
    <dgm:cxn modelId="{D69E54A2-CAB2-49BF-930E-23692A4F3EC8}" type="presOf" srcId="{68543C91-8B2D-45A1-B328-D16DD5F62703}" destId="{F664912C-5606-49B3-B35C-FD5EE9355417}" srcOrd="0" destOrd="0" presId="urn:microsoft.com/office/officeart/2018/2/layout/IconLabelList"/>
    <dgm:cxn modelId="{8EF201B2-2A80-4015-A182-1C6CB8FBD98F}" srcId="{0E0A8324-24B6-4304-90CE-528B69D99742}" destId="{D83CB150-B867-4FE5-847A-46B39DA85807}" srcOrd="1" destOrd="0" parTransId="{73FEF438-1441-472D-BE18-CE3017F99387}" sibTransId="{4835BF14-5F07-4115-BB4D-5C1D4F6718B1}"/>
    <dgm:cxn modelId="{E41304E3-CD44-4B54-8657-CF9E9BE540B0}" srcId="{0E0A8324-24B6-4304-90CE-528B69D99742}" destId="{9E38D9EE-0E3F-4201-89BE-A8432C0D6E26}" srcOrd="2" destOrd="0" parTransId="{7187784E-37D7-4502-99C5-8F823A7B3043}" sibTransId="{05C4C3AE-EA5A-4F90-9DA0-68BD689280DD}"/>
    <dgm:cxn modelId="{2803AA55-B9BF-46A3-A39F-54E4A2C26440}" type="presParOf" srcId="{7CB815CF-9E50-42FF-90B4-981719B13B4A}" destId="{34AE3269-1543-4EB8-A837-37F8CBD41757}" srcOrd="0" destOrd="0" presId="urn:microsoft.com/office/officeart/2018/2/layout/IconLabelList"/>
    <dgm:cxn modelId="{235B1D99-869D-48A6-8550-9C253B4E4E6C}" type="presParOf" srcId="{34AE3269-1543-4EB8-A837-37F8CBD41757}" destId="{8B883CEA-7EAA-430D-87B4-D09BDBB7131C}" srcOrd="0" destOrd="0" presId="urn:microsoft.com/office/officeart/2018/2/layout/IconLabelList"/>
    <dgm:cxn modelId="{4549A65C-8B80-44BB-891D-51B727FFF13A}" type="presParOf" srcId="{34AE3269-1543-4EB8-A837-37F8CBD41757}" destId="{D10F07F2-8D05-44C6-B45E-8D38573829E5}" srcOrd="1" destOrd="0" presId="urn:microsoft.com/office/officeart/2018/2/layout/IconLabelList"/>
    <dgm:cxn modelId="{899E17AE-DC71-4B2A-81A6-E0141DFDA221}" type="presParOf" srcId="{34AE3269-1543-4EB8-A837-37F8CBD41757}" destId="{E88EDB15-914C-4D66-9E41-3E4B2E62E8FA}" srcOrd="2" destOrd="0" presId="urn:microsoft.com/office/officeart/2018/2/layout/IconLabelList"/>
    <dgm:cxn modelId="{54DA7893-5139-4122-B3BC-1E16DB7E0D82}" type="presParOf" srcId="{7CB815CF-9E50-42FF-90B4-981719B13B4A}" destId="{749CE111-4865-488A-8E15-DE88263230C3}" srcOrd="1" destOrd="0" presId="urn:microsoft.com/office/officeart/2018/2/layout/IconLabelList"/>
    <dgm:cxn modelId="{ACB1EC2E-4E6D-49C6-B070-0E7FAB190CCF}" type="presParOf" srcId="{7CB815CF-9E50-42FF-90B4-981719B13B4A}" destId="{8BAD7271-B8C4-4B0E-A9A1-24FA2B33FE1B}" srcOrd="2" destOrd="0" presId="urn:microsoft.com/office/officeart/2018/2/layout/IconLabelList"/>
    <dgm:cxn modelId="{F9159212-8B1E-4459-BBFB-14563C929FFA}" type="presParOf" srcId="{8BAD7271-B8C4-4B0E-A9A1-24FA2B33FE1B}" destId="{6F4386E0-98FB-444A-A8D6-19F72E50B459}" srcOrd="0" destOrd="0" presId="urn:microsoft.com/office/officeart/2018/2/layout/IconLabelList"/>
    <dgm:cxn modelId="{58CEB518-E467-4218-BCE7-23023B08DA9B}" type="presParOf" srcId="{8BAD7271-B8C4-4B0E-A9A1-24FA2B33FE1B}" destId="{B9C05F4B-CEC0-48F0-93C9-7DDEDC8886CB}" srcOrd="1" destOrd="0" presId="urn:microsoft.com/office/officeart/2018/2/layout/IconLabelList"/>
    <dgm:cxn modelId="{00782313-7620-44D2-8266-CC9B82A31386}" type="presParOf" srcId="{8BAD7271-B8C4-4B0E-A9A1-24FA2B33FE1B}" destId="{57DE4C49-367A-4197-96C5-81B4CD14462D}" srcOrd="2" destOrd="0" presId="urn:microsoft.com/office/officeart/2018/2/layout/IconLabelList"/>
    <dgm:cxn modelId="{AAF48AC1-7F61-4808-995F-8DB30DE6CE47}" type="presParOf" srcId="{7CB815CF-9E50-42FF-90B4-981719B13B4A}" destId="{EF08EA67-15CE-4B03-9D13-C94994CA64FF}" srcOrd="3" destOrd="0" presId="urn:microsoft.com/office/officeart/2018/2/layout/IconLabelList"/>
    <dgm:cxn modelId="{9D18987E-EF48-48DD-96B0-689945915CA4}" type="presParOf" srcId="{7CB815CF-9E50-42FF-90B4-981719B13B4A}" destId="{9C37D29A-A058-432C-B85C-E3FDE984B1A6}" srcOrd="4" destOrd="0" presId="urn:microsoft.com/office/officeart/2018/2/layout/IconLabelList"/>
    <dgm:cxn modelId="{45B136FB-4A99-4F1A-A872-E7A64AC74F6D}" type="presParOf" srcId="{9C37D29A-A058-432C-B85C-E3FDE984B1A6}" destId="{2BFAB715-C0DD-4017-A566-3550CCFD3807}" srcOrd="0" destOrd="0" presId="urn:microsoft.com/office/officeart/2018/2/layout/IconLabelList"/>
    <dgm:cxn modelId="{3CBC1A3C-257F-4CB6-A093-241A297724DB}" type="presParOf" srcId="{9C37D29A-A058-432C-B85C-E3FDE984B1A6}" destId="{8673D501-FBCE-41A7-A0A9-E302C23CFD8E}" srcOrd="1" destOrd="0" presId="urn:microsoft.com/office/officeart/2018/2/layout/IconLabelList"/>
    <dgm:cxn modelId="{369B5CCD-0EA8-4A8F-9E3B-C8E68A19CA6A}" type="presParOf" srcId="{9C37D29A-A058-432C-B85C-E3FDE984B1A6}" destId="{7288DDB4-7184-4A2C-ACB0-CF18452F37AD}" srcOrd="2" destOrd="0" presId="urn:microsoft.com/office/officeart/2018/2/layout/IconLabelList"/>
    <dgm:cxn modelId="{90F906D6-AA9D-4BE4-A7EF-E968E5BD7BEF}" type="presParOf" srcId="{7CB815CF-9E50-42FF-90B4-981719B13B4A}" destId="{F0493C59-8B9C-43F1-A98E-A68901234A31}" srcOrd="5" destOrd="0" presId="urn:microsoft.com/office/officeart/2018/2/layout/IconLabelList"/>
    <dgm:cxn modelId="{4D3EA71B-D61C-407A-AE16-3FE15CCCD69B}" type="presParOf" srcId="{7CB815CF-9E50-42FF-90B4-981719B13B4A}" destId="{C77F386D-19FE-41BD-BBE9-4028A351AA6F}" srcOrd="6" destOrd="0" presId="urn:microsoft.com/office/officeart/2018/2/layout/IconLabelList"/>
    <dgm:cxn modelId="{83E51CE4-62E4-453F-AE09-C98E91AEBC87}" type="presParOf" srcId="{C77F386D-19FE-41BD-BBE9-4028A351AA6F}" destId="{C29BC087-0973-4EBB-875A-AF796DC07ADB}" srcOrd="0" destOrd="0" presId="urn:microsoft.com/office/officeart/2018/2/layout/IconLabelList"/>
    <dgm:cxn modelId="{928AA80F-D3CA-4747-9AA7-639A9D83BE31}" type="presParOf" srcId="{C77F386D-19FE-41BD-BBE9-4028A351AA6F}" destId="{515DB897-A48F-478B-8BF6-2C1B6EAF3851}" srcOrd="1" destOrd="0" presId="urn:microsoft.com/office/officeart/2018/2/layout/IconLabelList"/>
    <dgm:cxn modelId="{2E8715D7-1789-4780-8E21-768637F8DEAB}" type="presParOf" srcId="{C77F386D-19FE-41BD-BBE9-4028A351AA6F}" destId="{F664912C-5606-49B3-B35C-FD5EE935541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883CEA-7EAA-430D-87B4-D09BDBB7131C}">
      <dsp:nvSpPr>
        <dsp:cNvPr id="0" name=""/>
        <dsp:cNvSpPr/>
      </dsp:nvSpPr>
      <dsp:spPr>
        <a:xfrm>
          <a:off x="1138979" y="1002271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8EDB15-914C-4D66-9E41-3E4B2E62E8FA}">
      <dsp:nvSpPr>
        <dsp:cNvPr id="0" name=""/>
        <dsp:cNvSpPr/>
      </dsp:nvSpPr>
      <dsp:spPr>
        <a:xfrm>
          <a:off x="569079" y="222660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Autonomous navigation to guide patients.</a:t>
          </a:r>
          <a:endParaRPr lang="en-US" sz="1700" kern="1200"/>
        </a:p>
      </dsp:txBody>
      <dsp:txXfrm>
        <a:off x="569079" y="2226604"/>
        <a:ext cx="2072362" cy="720000"/>
      </dsp:txXfrm>
    </dsp:sp>
    <dsp:sp modelId="{6F4386E0-98FB-444A-A8D6-19F72E50B459}">
      <dsp:nvSpPr>
        <dsp:cNvPr id="0" name=""/>
        <dsp:cNvSpPr/>
      </dsp:nvSpPr>
      <dsp:spPr>
        <a:xfrm>
          <a:off x="3574005" y="1002271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DE4C49-367A-4197-96C5-81B4CD14462D}">
      <dsp:nvSpPr>
        <dsp:cNvPr id="0" name=""/>
        <dsp:cNvSpPr/>
      </dsp:nvSpPr>
      <dsp:spPr>
        <a:xfrm>
          <a:off x="3004105" y="222660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Integration with hospital EMR systems.</a:t>
          </a:r>
          <a:endParaRPr lang="en-US" sz="1700" kern="1200"/>
        </a:p>
      </dsp:txBody>
      <dsp:txXfrm>
        <a:off x="3004105" y="2226604"/>
        <a:ext cx="2072362" cy="720000"/>
      </dsp:txXfrm>
    </dsp:sp>
    <dsp:sp modelId="{2BFAB715-C0DD-4017-A566-3550CCFD3807}">
      <dsp:nvSpPr>
        <dsp:cNvPr id="0" name=""/>
        <dsp:cNvSpPr/>
      </dsp:nvSpPr>
      <dsp:spPr>
        <a:xfrm>
          <a:off x="6009031" y="1002271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88DDB4-7184-4A2C-ACB0-CF18452F37AD}">
      <dsp:nvSpPr>
        <dsp:cNvPr id="0" name=""/>
        <dsp:cNvSpPr/>
      </dsp:nvSpPr>
      <dsp:spPr>
        <a:xfrm>
          <a:off x="5439131" y="222660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Advanced triage (vitals monitoring, AI-based assessment).</a:t>
          </a:r>
          <a:endParaRPr lang="en-US" sz="1700" kern="1200"/>
        </a:p>
      </dsp:txBody>
      <dsp:txXfrm>
        <a:off x="5439131" y="2226604"/>
        <a:ext cx="2072362" cy="720000"/>
      </dsp:txXfrm>
    </dsp:sp>
    <dsp:sp modelId="{C29BC087-0973-4EBB-875A-AF796DC07ADB}">
      <dsp:nvSpPr>
        <dsp:cNvPr id="0" name=""/>
        <dsp:cNvSpPr/>
      </dsp:nvSpPr>
      <dsp:spPr>
        <a:xfrm>
          <a:off x="8444057" y="1002271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64912C-5606-49B3-B35C-FD5EE9355417}">
      <dsp:nvSpPr>
        <dsp:cNvPr id="0" name=""/>
        <dsp:cNvSpPr/>
      </dsp:nvSpPr>
      <dsp:spPr>
        <a:xfrm>
          <a:off x="7874157" y="222660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/>
            <a:t>Telepresence capabilities(Case Study)</a:t>
          </a:r>
          <a:endParaRPr lang="en-US" sz="1700" kern="1200" dirty="0"/>
        </a:p>
      </dsp:txBody>
      <dsp:txXfrm>
        <a:off x="7874157" y="2226604"/>
        <a:ext cx="207236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89C32-8D37-EDCB-09C4-E6995C460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CAD1A7-BE8A-BD6D-E618-C7B070288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8E3F7-9DCB-00EA-2D6D-7C4116A93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A6899-25BE-4621-B90D-197E9582B9AB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71C3C-9360-A385-250C-2ABFDA30E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71769-EBFD-CCE1-4046-037EEC8FD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39D36-6722-4AC4-AD98-8CA507389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696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E9461-2C16-07F4-1979-931B5E1D7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C8F33-064A-598E-498D-927DE639D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4F6AB-FA67-9A2A-C56F-90A3B9BFA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A6899-25BE-4621-B90D-197E9582B9AB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FC450-023F-3F70-C78E-B0B9656C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FF72F-E2A2-64A1-A53E-05C7C44BF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39D36-6722-4AC4-AD98-8CA507389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78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72D76-16E0-37DB-91E3-6F7761785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A2185-6FAB-A271-D7C9-4604CC3B3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31353-B0BD-6D11-16DD-A0FA78206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A6899-25BE-4621-B90D-197E9582B9AB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1664F-0072-6EDA-01D1-7549CCABF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2F1C5-82A1-3BA5-B53D-EC4546C13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39D36-6722-4AC4-AD98-8CA507389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352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A4828-9DA3-06E7-F054-1E4E63AAE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12049-9DFF-8F00-ECD8-2E4D2A829E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499B11-7307-083A-5123-BAB543F45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2DFDC-57E6-3EB7-FAAC-569CD79AB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A6899-25BE-4621-B90D-197E9582B9AB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F6F99-D751-8882-D761-279AC1BB8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A28E2-DBAE-EA53-F55E-DFF921A9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39D36-6722-4AC4-AD98-8CA507389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013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3981A-E7BE-5A1E-36D3-3AF8F7211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41876-25B6-FB02-9E81-BF73542D2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E4ED0-B14D-2B38-08D1-61446761D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BFD2FC-9484-984A-48D9-F6892944BB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1691BF-4EF1-18C2-39CB-7CD8F4BBB2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1AC346-5FCD-E7B9-DDD5-021CC747F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A6899-25BE-4621-B90D-197E9582B9AB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C49A42-626C-D605-424E-269844D22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B4CD5A-894B-DDFB-AC73-2DA0BD2D5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39D36-6722-4AC4-AD98-8CA507389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93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77459-FD11-BC8F-64F0-86A8AA14F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CD6F98-3494-5762-D629-C1A02D280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A6899-25BE-4621-B90D-197E9582B9AB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7E6764-A13C-1671-AFF2-FCB7BD73C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766D37-7789-EE05-CA43-41E8DCB6A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39D36-6722-4AC4-AD98-8CA507389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592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695A17-A94B-3CD2-1400-84FC227CC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A6899-25BE-4621-B90D-197E9582B9AB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FEB5CD-9E1C-F6B6-79A2-33F4A6C08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5343D-CE88-BD66-C4A0-856D1C390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39D36-6722-4AC4-AD98-8CA507389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35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C076B-508E-6225-76FD-7AA50F0B9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D6F90-0D6C-C83F-27E5-8B41B6315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74433F-0D9D-3146-D637-99A04AE21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C8048-1723-C2F0-D1BC-9CD4F536B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A6899-25BE-4621-B90D-197E9582B9AB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595B2-8EC3-77A3-949E-8735F724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CB62E-0624-01D7-4631-E5D3E8FE4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39D36-6722-4AC4-AD98-8CA507389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8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4CA80-FDFB-9BA5-46F4-9AFDB4A30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DA97B4-DDFC-911A-33DA-605C64DA8C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2BA9B-42ED-CFF0-7D6A-F9D98F971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AF80A-4AD1-7D25-A6FC-BE35BA728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A6899-25BE-4621-B90D-197E9582B9AB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0907A-D814-ABF8-BDB1-01AF3A2B4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7A38A-B55A-3D8D-D696-F4B2280DE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39D36-6722-4AC4-AD98-8CA507389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288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E777D-3D59-F8B5-E57B-59133EA97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D15A6-BF37-DC62-96F5-F5288F399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1754D-6D0F-452E-B5E1-52A90198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A6899-25BE-4621-B90D-197E9582B9AB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EA807-BF45-AA88-C8D8-FF1BC442D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E3F02-AE55-518D-98F8-3D6033575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39D36-6722-4AC4-AD98-8CA507389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71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5CBB05-10D8-7EFC-6D35-8C7C29648C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22B3E6-62FF-EBC5-AC78-1238337F6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AD3B2-13F4-1978-16FB-39D15E887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A6899-25BE-4621-B90D-197E9582B9AB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E501D-90E3-7117-1FFE-C1966C9D9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368D5-9407-C57A-919B-80F274FF6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39D36-6722-4AC4-AD98-8CA507389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760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B994F6-79AE-1813-41D1-88D3ABFBB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466BF-7489-6DEB-C7C4-82E4E04D8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F90B9-8E89-A69D-1F3C-DA4788A6DF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A6899-25BE-4621-B90D-197E9582B9AB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E408D-96C0-700D-BD6D-8E765A40B4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E20BB-3A1F-4F82-D8FA-BE6B15EA5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C39D36-6722-4AC4-AD98-8CA507389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15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572E5-6651-48C8-CD35-299FD3153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953" y="2604756"/>
            <a:ext cx="7498015" cy="1648488"/>
          </a:xfrm>
        </p:spPr>
        <p:txBody>
          <a:bodyPr>
            <a:normAutofit fontScale="90000"/>
          </a:bodyPr>
          <a:lstStyle/>
          <a:p>
            <a:r>
              <a:rPr lang="en-US" dirty="0"/>
              <a:t>Pepper Medical Assistance Robot</a:t>
            </a:r>
          </a:p>
        </p:txBody>
      </p:sp>
      <p:pic>
        <p:nvPicPr>
          <p:cNvPr id="1028" name="Picture 4" descr="Introducing Pepper, Saint Joseph's Humanoid Robot | Saint Joseph's  University">
            <a:extLst>
              <a:ext uri="{FF2B5EF4-FFF2-40B4-BE49-F238E27FC236}">
                <a16:creationId xmlns:a16="http://schemas.microsoft.com/office/drawing/2014/main" id="{E0F02889-D27F-7775-0553-7C96492FC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328" y="221660"/>
            <a:ext cx="2754452" cy="6414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3785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9CD6BB-D97E-C6A4-8482-E406210C3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Team Members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11581-CF27-AE7B-358E-005DE0CAB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Aly Ahmed Lotfy                        Intelligent System                     221000412</a:t>
            </a:r>
          </a:p>
          <a:p>
            <a:pPr marL="0" indent="0">
              <a:buNone/>
            </a:pPr>
            <a:r>
              <a:rPr lang="en-US" sz="2400"/>
              <a:t>Abdulrahman Karam               Intelligent System                     221002035</a:t>
            </a:r>
          </a:p>
          <a:p>
            <a:pPr marL="0" indent="0">
              <a:buNone/>
            </a:pPr>
            <a:r>
              <a:rPr lang="en-US" sz="2400"/>
              <a:t>Mohammed El Maghwary     Intelligent System                     221001747</a:t>
            </a:r>
          </a:p>
          <a:p>
            <a:pPr marL="0" indent="0">
              <a:buNone/>
            </a:pPr>
            <a:r>
              <a:rPr lang="en-US" sz="2400"/>
              <a:t>Amira El Sayed                           Data Science                              221002982</a:t>
            </a:r>
          </a:p>
          <a:p>
            <a:pPr marL="0" indent="0">
              <a:buNone/>
            </a:pPr>
            <a:r>
              <a:rPr lang="en-US" sz="2400"/>
              <a:t>Amr Sherif Emara                      Data Science                              221000299</a:t>
            </a:r>
          </a:p>
          <a:p>
            <a:pPr marL="0" indent="0">
              <a:buNone/>
            </a:pPr>
            <a:r>
              <a:rPr lang="en-US" sz="2400"/>
              <a:t>Youssef Ahmed Tawfik            Data Science                              221001264</a:t>
            </a:r>
          </a:p>
        </p:txBody>
      </p:sp>
    </p:spTree>
    <p:extLst>
      <p:ext uri="{BB962C8B-B14F-4D97-AF65-F5344CB8AC3E}">
        <p14:creationId xmlns:p14="http://schemas.microsoft.com/office/powerpoint/2010/main" val="2580344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BCBF8-381A-47F2-D93D-7E6023799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575" y="394622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4DDE9B-C53A-92E3-1FAF-06D217367A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6917" y="1810065"/>
            <a:ext cx="878020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 the Project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 the Motivation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 the System Design and Architecture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Detail the Development Process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Showcase Key Features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Share Testing and Results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Outline Future Work.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Engage the Audience</a:t>
            </a:r>
          </a:p>
        </p:txBody>
      </p:sp>
    </p:spTree>
    <p:extLst>
      <p:ext uri="{BB962C8B-B14F-4D97-AF65-F5344CB8AC3E}">
        <p14:creationId xmlns:p14="http://schemas.microsoft.com/office/powerpoint/2010/main" val="2453800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C0AB9-926A-988F-8DE1-88C18D73B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Choose Pepper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D21AF-2F66-16DB-7CFB-0F9FDCBF3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r>
              <a:rPr lang="en-US" b="1" dirty="0"/>
              <a:t>Versatile Interaction</a:t>
            </a:r>
            <a:r>
              <a:rPr lang="en-US" dirty="0"/>
              <a:t>: Pepper can interact with users through speech, gestures, and a tablet interface, making it ideal for patient interactions.</a:t>
            </a:r>
          </a:p>
          <a:p>
            <a:r>
              <a:rPr lang="en-US" b="1" dirty="0"/>
              <a:t>Bilingual Support</a:t>
            </a:r>
            <a:r>
              <a:rPr lang="en-US" dirty="0"/>
              <a:t>: Pepper can interact in multiple languages, making it suitable for diverse patient groups.</a:t>
            </a:r>
          </a:p>
          <a:p>
            <a:r>
              <a:rPr lang="en-US" b="1" dirty="0"/>
              <a:t>Established Robot for Healthcare</a:t>
            </a:r>
            <a:r>
              <a:rPr lang="en-US" dirty="0"/>
              <a:t>: Pepper is used in multiple healthcare settings around the world, making it a trusted platform.</a:t>
            </a:r>
          </a:p>
          <a:p>
            <a:r>
              <a:rPr lang="en-US" b="1" dirty="0"/>
              <a:t>Emotional Interactions</a:t>
            </a:r>
            <a:r>
              <a:rPr lang="en-US" dirty="0"/>
              <a:t>: Pepper can engage with patients emotionally, which can reduce stress and improve patient experience.</a:t>
            </a:r>
          </a:p>
          <a:p>
            <a:r>
              <a:rPr lang="en-US" b="1" dirty="0"/>
              <a:t>Adaptability</a:t>
            </a:r>
            <a:r>
              <a:rPr lang="en-US" dirty="0"/>
              <a:t>: Can be integrated with external systems (backend servers, databases) and customized for various healthcare needs.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655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5BA14-D713-7B05-2274-67547BB49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74DE9-B266-AE5E-73EE-AD928796B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r>
              <a:rPr lang="en-US" b="1" dirty="0"/>
              <a:t>Goal</a:t>
            </a:r>
            <a:r>
              <a:rPr lang="en-US" dirty="0"/>
              <a:t>: Build a Pepper Medical Assistant Robot for real-world healthcare settings.</a:t>
            </a:r>
          </a:p>
          <a:p>
            <a:r>
              <a:rPr lang="en-US" b="1" dirty="0"/>
              <a:t>Specific Objectives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Provide interactive medical assistance to patients.</a:t>
            </a:r>
          </a:p>
          <a:p>
            <a:pPr lvl="1"/>
            <a:r>
              <a:rPr lang="en-US" dirty="0"/>
              <a:t>Ensure efficient integration with hospital systems.</a:t>
            </a:r>
          </a:p>
          <a:p>
            <a:pPr lvl="1"/>
            <a:r>
              <a:rPr lang="en-US" dirty="0"/>
              <a:t>Facilitate real-time communication between the robot and hospital staff.</a:t>
            </a:r>
          </a:p>
          <a:p>
            <a:pPr lvl="1"/>
            <a:r>
              <a:rPr lang="en-US" dirty="0"/>
              <a:t>Create an interface that can be used by elderly patients with ease.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661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7EAB19-08EF-B4D5-30AD-D96B844133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82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AB93D3-12AD-7C4D-DD91-5F9BFF935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Project Vision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8E0F73-0648-354A-5373-295ACE7625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95055"/>
            <a:ext cx="3822189" cy="41819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AI-powered medical assistant robot to improve patient experience.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Collaboration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Andalusia Hospital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Provides bilingual (Arabic/English) interaction for accessibility.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Focus: Reception, FAQ, Triage, and Nurse Alert</a:t>
            </a:r>
          </a:p>
        </p:txBody>
      </p:sp>
    </p:spTree>
    <p:extLst>
      <p:ext uri="{BB962C8B-B14F-4D97-AF65-F5344CB8AC3E}">
        <p14:creationId xmlns:p14="http://schemas.microsoft.com/office/powerpoint/2010/main" val="3853861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7" name="Rectangle 3086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A5B7E4-8DCD-09A7-E954-AFC0E6EE5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/>
              <a:t>Core Features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D5AB793-9FFE-8344-25AE-2383745BAA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33297"/>
            <a:ext cx="4619621" cy="38436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Reception &amp; Check-in: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confirm appointments via ID/QR.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Queue Management: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show wait times, notify patients.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FAQs &amp; Guidance: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answer hospital-related queries.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Wayfinding: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give directions to departments.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Simple Triage: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detect urgent cases and alert nurses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Navigation: </a:t>
            </a:r>
            <a:r>
              <a:rPr lang="en-US" altLang="en-US" sz="2000" dirty="0">
                <a:latin typeface="Arial" panose="020B0604020202020204" pitchFamily="34" charset="0"/>
              </a:rPr>
              <a:t>Help Patient through the hospital</a:t>
            </a:r>
            <a:endParaRPr kumimoji="0" lang="en-US" altLang="en-US" sz="20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3082" name="Picture 10" descr="8 Ways Medical Robots Can Enhance Healthcare - The Medical Futurist">
            <a:extLst>
              <a:ext uri="{FF2B5EF4-FFF2-40B4-BE49-F238E27FC236}">
                <a16:creationId xmlns:a16="http://schemas.microsoft.com/office/drawing/2014/main" id="{4EB88A4A-E109-B1CF-EAEE-696213D61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70" r="5921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5207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7F292-454E-8DBA-98A8-50152B0C5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9B169-B1FA-13A2-344B-575720869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Advanced Triage System</a:t>
            </a:r>
          </a:p>
          <a:p>
            <a:r>
              <a:rPr lang="en-US" dirty="0"/>
              <a:t>Pepper Guidance through building</a:t>
            </a:r>
          </a:p>
          <a:p>
            <a:r>
              <a:rPr lang="en-US" dirty="0"/>
              <a:t>Pepper Teleoperation </a:t>
            </a:r>
          </a:p>
          <a:p>
            <a:r>
              <a:rPr lang="en-US" dirty="0"/>
              <a:t>Bilingual System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742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23A7F-3899-2287-1195-34E232CB3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Robotics in HealthCare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4DCAD-D591-F1F0-9EC6-A75F3A9E2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r>
              <a:rPr lang="en-US" b="1" dirty="0"/>
              <a:t>Improved Patient Experience</a:t>
            </a:r>
            <a:r>
              <a:rPr lang="en-US" dirty="0"/>
              <a:t>: Robots like Pepper reduce anxiety and improve patient interactions.</a:t>
            </a:r>
          </a:p>
          <a:p>
            <a:r>
              <a:rPr lang="en-US" b="1" dirty="0"/>
              <a:t>Support for Healthcare Workers</a:t>
            </a:r>
            <a:r>
              <a:rPr lang="en-US" dirty="0"/>
              <a:t>: Pepper assists staff by reducing their workload, allowing them to focus on critical tasks.</a:t>
            </a:r>
          </a:p>
          <a:p>
            <a:r>
              <a:rPr lang="en-US" b="1" dirty="0"/>
              <a:t>Data Collection</a:t>
            </a:r>
            <a:r>
              <a:rPr lang="en-US" dirty="0"/>
              <a:t>: Robots collect valuable data from patients, enabling more efficient decision-making in the hospital setting.</a:t>
            </a:r>
          </a:p>
          <a:p>
            <a:r>
              <a:rPr lang="en-US" b="1" dirty="0"/>
              <a:t>Increased Efficiency</a:t>
            </a:r>
            <a:r>
              <a:rPr lang="en-US" dirty="0"/>
              <a:t>: Automation of tasks such as triage and frequently asked questions reduces waiting times and enhances operational efficiency.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044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887CCE-6ACA-BE24-241B-39FCA161F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Advanced AI Features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82E92F6-1895-1A62-7B74-C0B1919EA4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5435027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526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6" name="Rectangle 4105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8D9457-15F6-4161-6246-86BC8A9BE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/>
              <a:t>System Architecture</a:t>
            </a:r>
            <a:endParaRPr lang="en-US" dirty="0"/>
          </a:p>
        </p:txBody>
      </p:sp>
      <p:pic>
        <p:nvPicPr>
          <p:cNvPr id="4101" name="Picture 5" descr="Pepper Robot - SAP Business One SEED APJ Developme... - SAP Community">
            <a:extLst>
              <a:ext uri="{FF2B5EF4-FFF2-40B4-BE49-F238E27FC236}">
                <a16:creationId xmlns:a16="http://schemas.microsoft.com/office/drawing/2014/main" id="{5B108292-582B-D8D4-33CB-7013A7FA4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77" b="-1"/>
          <a:stretch>
            <a:fillRect/>
          </a:stretch>
        </p:blipFill>
        <p:spPr bwMode="auto"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DCC7700-1C4F-ED2B-2F18-E1B6A58391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3788" y="2333297"/>
            <a:ext cx="4840010" cy="38436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Pepper Layer: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NAOqi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(Python 2.7) → speech, gestures, tablet.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Backend Layer: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(Python 3) → RAG FAQ + triage + WebSocket.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UI Layer: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Tablet web app (HTML/CSS/JS).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➡ Fully local system → privacy-first, low late</a:t>
            </a:r>
          </a:p>
        </p:txBody>
      </p:sp>
    </p:spTree>
    <p:extLst>
      <p:ext uri="{BB962C8B-B14F-4D97-AF65-F5344CB8AC3E}">
        <p14:creationId xmlns:p14="http://schemas.microsoft.com/office/powerpoint/2010/main" val="345775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2366D-97E3-3391-2D0B-3DB8F75BA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Did We Do It? – Initial Setup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F71A0-BF63-1E7F-BF99-7EAB69AF4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</a:t>
            </a:r>
            <a:r>
              <a:rPr lang="en-US" dirty="0"/>
              <a:t>: Initial Setup and System Preparation</a:t>
            </a:r>
          </a:p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Step 1</a:t>
            </a:r>
            <a:r>
              <a:rPr lang="en-US" dirty="0"/>
              <a:t>: Pepper robot setup – connecting the robot to the hospital’s Wi-Fi and ensuring basic functionality (movement, camera, microphone).</a:t>
            </a:r>
          </a:p>
          <a:p>
            <a:pPr lvl="1"/>
            <a:r>
              <a:rPr lang="en-US" b="1" dirty="0"/>
              <a:t>Step 2</a:t>
            </a:r>
            <a:r>
              <a:rPr lang="en-US" dirty="0"/>
              <a:t>: Installed the </a:t>
            </a:r>
            <a:r>
              <a:rPr lang="en-US" b="1" dirty="0" err="1"/>
              <a:t>NAOqi</a:t>
            </a:r>
            <a:r>
              <a:rPr lang="en-US" b="1" dirty="0"/>
              <a:t> SDK</a:t>
            </a:r>
            <a:r>
              <a:rPr lang="en-US" dirty="0"/>
              <a:t> (Python 2.7) for robot communication.</a:t>
            </a:r>
          </a:p>
          <a:p>
            <a:pPr lvl="1"/>
            <a:r>
              <a:rPr lang="en-US" b="1" dirty="0"/>
              <a:t>Step 3</a:t>
            </a:r>
            <a:r>
              <a:rPr lang="en-US" dirty="0"/>
              <a:t>: Developed the </a:t>
            </a:r>
            <a:r>
              <a:rPr lang="en-US" b="1" dirty="0"/>
              <a:t>backend server</a:t>
            </a:r>
            <a:r>
              <a:rPr lang="en-US" dirty="0"/>
              <a:t> (</a:t>
            </a:r>
            <a:r>
              <a:rPr lang="en-US" dirty="0" err="1"/>
              <a:t>FastAPI</a:t>
            </a:r>
            <a:r>
              <a:rPr lang="en-US" dirty="0"/>
              <a:t>) to handle requests, process triage, and manage patient data.</a:t>
            </a:r>
          </a:p>
          <a:p>
            <a:pPr lvl="1"/>
            <a:r>
              <a:rPr lang="en-US" b="1" dirty="0"/>
              <a:t>Step 4</a:t>
            </a:r>
            <a:r>
              <a:rPr lang="en-US" dirty="0"/>
              <a:t>: Created the </a:t>
            </a:r>
            <a:r>
              <a:rPr lang="en-US" b="1" dirty="0"/>
              <a:t>tablet UI</a:t>
            </a:r>
            <a:r>
              <a:rPr lang="en-US" dirty="0"/>
              <a:t> for Pepper, ensuring a user-friendly interface with large buttons and bilingual support (Arabic and English).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81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B79E3-B5D8-CF35-491B-6F9FF4C7C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CED5F-CDBD-BE25-AF91-BB7C7CC2A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</a:t>
            </a:r>
            <a:r>
              <a:rPr lang="en-US" dirty="0"/>
              <a:t>: System Components and Their Role</a:t>
            </a:r>
          </a:p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Pepper Robot</a:t>
            </a:r>
            <a:r>
              <a:rPr lang="en-US" dirty="0"/>
              <a:t>: Interaction device for speech, gestures, and tablet-based assistance.</a:t>
            </a:r>
          </a:p>
          <a:p>
            <a:pPr lvl="1"/>
            <a:r>
              <a:rPr lang="en-US" b="1" dirty="0"/>
              <a:t>Backend Server (</a:t>
            </a:r>
            <a:r>
              <a:rPr lang="en-US" b="1" dirty="0" err="1"/>
              <a:t>FastAPI</a:t>
            </a:r>
            <a:r>
              <a:rPr lang="en-US" b="1" dirty="0"/>
              <a:t>)</a:t>
            </a:r>
            <a:r>
              <a:rPr lang="en-US" dirty="0"/>
              <a:t>: Handles all API requests, connects to the robot via WebSocket, manages database interactions, and processes triage.</a:t>
            </a:r>
          </a:p>
          <a:p>
            <a:pPr lvl="1"/>
            <a:r>
              <a:rPr lang="en-US" b="1" dirty="0"/>
              <a:t>Tablet UI</a:t>
            </a:r>
            <a:r>
              <a:rPr lang="en-US" dirty="0"/>
              <a:t>: A web app displayed on Pepper’s tablet, where patients interact by typing or using voice input for check-in, FAQs, and triage.</a:t>
            </a:r>
          </a:p>
          <a:p>
            <a:pPr lvl="1"/>
            <a:r>
              <a:rPr lang="en-US" b="1" dirty="0"/>
              <a:t>WebSocket Bridge</a:t>
            </a:r>
            <a:r>
              <a:rPr lang="en-US" dirty="0"/>
              <a:t>: Facilitates communication between Pepper and the backend server, ensuring real-time interaction.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689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A2C7B-28B5-6CD0-E587-57DAA1F66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Integration of Speech Recognition (Whisper)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E8DF3-14E3-5BA4-0781-C2E3FDAE2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Title</a:t>
            </a:r>
            <a:r>
              <a:rPr lang="en-US" dirty="0"/>
              <a:t>: Integration of Speech Recognition and Processing</a:t>
            </a:r>
          </a:p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Whisper</a:t>
            </a:r>
            <a:r>
              <a:rPr lang="en-US" dirty="0"/>
              <a:t>: Used for transcribing audio recorded by Pepper’s microphones into text.</a:t>
            </a:r>
          </a:p>
          <a:p>
            <a:pPr lvl="1"/>
            <a:r>
              <a:rPr lang="en-US" b="1" dirty="0"/>
              <a:t>Workflow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Pepper records a patient's question.</a:t>
            </a:r>
          </a:p>
          <a:p>
            <a:pPr lvl="2"/>
            <a:r>
              <a:rPr lang="en-US" dirty="0"/>
              <a:t>Audio is sent to the backend server for processing.</a:t>
            </a:r>
          </a:p>
          <a:p>
            <a:pPr lvl="2"/>
            <a:r>
              <a:rPr lang="en-US" dirty="0"/>
              <a:t>The backend transcribes the audio and retrieves the answer from the FAQ database or triage logic.</a:t>
            </a:r>
          </a:p>
          <a:p>
            <a:pPr lvl="2"/>
            <a:r>
              <a:rPr lang="en-US" dirty="0"/>
              <a:t>Pepper speaks the answer and displays it on the tablet.</a:t>
            </a:r>
          </a:p>
          <a:p>
            <a:pPr lvl="1"/>
            <a:r>
              <a:rPr lang="en-US" b="1" dirty="0"/>
              <a:t>Challenges</a:t>
            </a:r>
            <a:r>
              <a:rPr lang="en-US" dirty="0"/>
              <a:t>: Speech recognition accuracy in noisy environments, especially in a hospital lobby with multiple patients.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414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E0887-7964-5865-60EC-FD57A7720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WebSocket Communication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3FD39-261A-BEF8-BE68-A4F163466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Title</a:t>
            </a:r>
            <a:r>
              <a:rPr lang="en-US" dirty="0"/>
              <a:t>: WebSocket Communication – Connecting Pepper and the Backend</a:t>
            </a:r>
          </a:p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WebSocket Bridge</a:t>
            </a:r>
            <a:r>
              <a:rPr lang="en-US" dirty="0"/>
              <a:t>: The WebSocket bridge allows real-time bidirectional communication between the backend server and the Pepper robot.</a:t>
            </a:r>
          </a:p>
          <a:p>
            <a:pPr lvl="1"/>
            <a:r>
              <a:rPr lang="en-US" b="1" dirty="0"/>
              <a:t>Purpose</a:t>
            </a:r>
            <a:r>
              <a:rPr lang="en-US" dirty="0"/>
              <a:t>: It sends commands (e.g., TTS, tablet display updates) to the robot and receives responses from the robot.</a:t>
            </a:r>
          </a:p>
          <a:p>
            <a:pPr lvl="1"/>
            <a:r>
              <a:rPr lang="en-US" b="1" dirty="0"/>
              <a:t>How It Works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The backend sends a message to Pepper to speak (via </a:t>
            </a:r>
            <a:r>
              <a:rPr lang="en-US" dirty="0" err="1"/>
              <a:t>ALTextToSpeech</a:t>
            </a:r>
            <a:r>
              <a:rPr lang="en-US" dirty="0"/>
              <a:t>) or display a webpage (via </a:t>
            </a:r>
            <a:r>
              <a:rPr lang="en-US" dirty="0" err="1"/>
              <a:t>ALTabletService</a:t>
            </a:r>
            <a:r>
              <a:rPr lang="en-US" dirty="0"/>
              <a:t>).</a:t>
            </a:r>
          </a:p>
          <a:p>
            <a:pPr lvl="2"/>
            <a:r>
              <a:rPr lang="en-US" dirty="0"/>
              <a:t>It also handles alerts in case of urgent medical conditions (triggered by the triage module).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670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67161-C0DD-2E46-24A6-03BCC68B7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Tablet Interface 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DCA41-84B3-B58A-85EF-488489B77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</a:t>
            </a:r>
            <a:r>
              <a:rPr lang="en-US" dirty="0"/>
              <a:t>: Design of Pepper’s Tablet Interface</a:t>
            </a:r>
          </a:p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UI Design Principles</a:t>
            </a:r>
            <a:r>
              <a:rPr lang="en-US" dirty="0"/>
              <a:t>:</a:t>
            </a:r>
          </a:p>
          <a:p>
            <a:pPr lvl="2"/>
            <a:r>
              <a:rPr lang="en-US" b="1" dirty="0"/>
              <a:t>Accessibility</a:t>
            </a:r>
            <a:r>
              <a:rPr lang="en-US" dirty="0"/>
              <a:t>: Large fonts, big buttons, and simple navigation for elderly patients.</a:t>
            </a:r>
          </a:p>
          <a:p>
            <a:pPr lvl="2"/>
            <a:r>
              <a:rPr lang="en-US" b="1" dirty="0"/>
              <a:t>Bilingual</a:t>
            </a:r>
            <a:r>
              <a:rPr lang="en-US" dirty="0"/>
              <a:t>: The interface is in Arabic and English to accommodate diverse patients.</a:t>
            </a:r>
          </a:p>
          <a:p>
            <a:pPr lvl="1"/>
            <a:r>
              <a:rPr lang="en-US" b="1" dirty="0"/>
              <a:t>Features on Tablet</a:t>
            </a:r>
            <a:r>
              <a:rPr lang="en-US" dirty="0"/>
              <a:t>:</a:t>
            </a:r>
          </a:p>
          <a:p>
            <a:pPr lvl="2"/>
            <a:r>
              <a:rPr lang="en-US" b="1" dirty="0"/>
              <a:t>Check-in Form</a:t>
            </a:r>
            <a:r>
              <a:rPr lang="en-US" dirty="0"/>
              <a:t>: Patient enters their ID or appointment number.</a:t>
            </a:r>
          </a:p>
          <a:p>
            <a:pPr lvl="2"/>
            <a:r>
              <a:rPr lang="en-US" b="1" dirty="0"/>
              <a:t>FAQ Section</a:t>
            </a:r>
            <a:r>
              <a:rPr lang="en-US" dirty="0"/>
              <a:t>: Patients can ask about hospital services, visiting hours, etc.</a:t>
            </a:r>
          </a:p>
          <a:p>
            <a:pPr lvl="2"/>
            <a:r>
              <a:rPr lang="en-US" b="1" dirty="0"/>
              <a:t>Triage Section</a:t>
            </a:r>
            <a:r>
              <a:rPr lang="en-US" dirty="0"/>
              <a:t>: Patients can answer yes/no questions about their symptoms.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196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61FFE-9866-61B0-0364-0A41FDD91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7242"/>
            <a:ext cx="10515600" cy="1325563"/>
          </a:xfrm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My Appointments</a:t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FDF35E-A1B8-269A-A014-A6A6719E89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523967"/>
            <a:ext cx="11117826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Allow patients to view their upcoming appointments.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Interaction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Patients can click the "My Appointments" button to view their schedule.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This feature streamlines appointment management and helps patients stay informed about their upcoming visits.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331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02E89-88BC-3E8A-881D-67728CC5B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877" y="660093"/>
            <a:ext cx="10515600" cy="1325563"/>
          </a:xfrm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My Appointments (Technical Details)</a:t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11128D-BC3C-33F7-F38B-2F184CD5B8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47132"/>
            <a:ext cx="924969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Integration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backend server fetches appointment data from a database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SQLAlchemy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Display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Pepper tablet UI fetches the data from the backend API and displays the user's appointments.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Technologies Used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backend API,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SQLAlchemy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database integration, and WebSocket for communication with Pepper.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948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8CFA0-F092-D344-CA82-D688014E9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Health Tips (Overview)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BB8CD-F296-03E3-A7E8-76FA9FC4E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</a:t>
            </a:r>
            <a:r>
              <a:rPr lang="en-US" dirty="0"/>
              <a:t>: Feature 2 – Health Tips</a:t>
            </a:r>
          </a:p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Purpose</a:t>
            </a:r>
            <a:r>
              <a:rPr lang="en-US" dirty="0"/>
              <a:t>: Provide patients with health-related tips or general wellness advice.</a:t>
            </a:r>
          </a:p>
          <a:p>
            <a:pPr lvl="1"/>
            <a:r>
              <a:rPr lang="en-US" b="1" dirty="0"/>
              <a:t>User Interaction</a:t>
            </a:r>
            <a:r>
              <a:rPr lang="en-US" dirty="0"/>
              <a:t>: Patients tap the "Health Tips" button to view helpful tips and advice.</a:t>
            </a:r>
          </a:p>
          <a:p>
            <a:pPr lvl="1"/>
            <a:r>
              <a:rPr lang="en-US" b="1" dirty="0"/>
              <a:t>Benefit</a:t>
            </a:r>
            <a:r>
              <a:rPr lang="en-US" dirty="0"/>
              <a:t>: Helps patients maintain better health awareness during their visit.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252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0882D-15BA-5282-2468-9ED733F35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Health Tips (Technical Implementation)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870D3-1B1F-EFA5-4FF7-FF570688F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</a:t>
            </a:r>
            <a:r>
              <a:rPr lang="en-US" dirty="0"/>
              <a:t>: Feature 2 – Health Tips (Technical Details)</a:t>
            </a:r>
          </a:p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Backend Integration</a:t>
            </a:r>
            <a:r>
              <a:rPr lang="en-US" dirty="0"/>
              <a:t>: Health tips are stored in the database and retrieved via an API when the user taps the "Health Tips" button.</a:t>
            </a:r>
          </a:p>
          <a:p>
            <a:pPr lvl="1"/>
            <a:r>
              <a:rPr lang="en-US" b="1" dirty="0"/>
              <a:t>Content Delivery</a:t>
            </a:r>
            <a:r>
              <a:rPr lang="en-US" dirty="0"/>
              <a:t>: Tips are displayed on the tablet using the HTML UI.</a:t>
            </a:r>
          </a:p>
          <a:p>
            <a:pPr lvl="1"/>
            <a:r>
              <a:rPr lang="en-US" b="1" dirty="0"/>
              <a:t>Technologies Used</a:t>
            </a:r>
            <a:r>
              <a:rPr lang="en-US" dirty="0"/>
              <a:t>: </a:t>
            </a:r>
            <a:r>
              <a:rPr lang="en-US" dirty="0" err="1"/>
              <a:t>FastAPI</a:t>
            </a:r>
            <a:r>
              <a:rPr lang="en-US" dirty="0"/>
              <a:t> to fetch health tips, and WebSocket to display the tips on the Pepper tablet UI.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28160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FAE18-475F-79A9-E5AD-75F5924C1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Chat/FAQ (Overview)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F7FA1-07A9-EB4E-4171-79287423A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</a:t>
            </a:r>
            <a:r>
              <a:rPr lang="en-US" dirty="0"/>
              <a:t>: Feature 3 – Chat/FAQ</a:t>
            </a:r>
          </a:p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Purpose</a:t>
            </a:r>
            <a:r>
              <a:rPr lang="en-US" dirty="0"/>
              <a:t>: Allows patients to ask common questions (e.g., visiting hours, insurance details) and receive instant responses.</a:t>
            </a:r>
          </a:p>
          <a:p>
            <a:pPr lvl="1"/>
            <a:r>
              <a:rPr lang="en-US" b="1" dirty="0"/>
              <a:t>User Interaction</a:t>
            </a:r>
            <a:r>
              <a:rPr lang="en-US" dirty="0"/>
              <a:t>: Patients can type or speak their queries into the chatbot interface.</a:t>
            </a:r>
          </a:p>
          <a:p>
            <a:pPr lvl="1"/>
            <a:r>
              <a:rPr lang="en-US" b="1" dirty="0"/>
              <a:t>Benefit</a:t>
            </a:r>
            <a:r>
              <a:rPr lang="en-US" dirty="0"/>
              <a:t>: Improves patient experience by providing quick access to hospital-related information.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616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1FCFF-8A39-B2A1-D329-4D83F870D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Feature 3 – Chat/FAQ (Technical Implementation)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C54A7-DC45-F8EF-E74A-C38079654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</a:t>
            </a:r>
            <a:r>
              <a:rPr lang="en-US" dirty="0"/>
              <a:t>: Feature 3 – Chat/FAQ (Technical Details)</a:t>
            </a:r>
          </a:p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FAQ Database</a:t>
            </a:r>
            <a:r>
              <a:rPr lang="en-US" dirty="0"/>
              <a:t>: FAQ data is stored and indexed in a database using the RAG (Retrieval-Augmented Generation) approach.</a:t>
            </a:r>
          </a:p>
          <a:p>
            <a:pPr lvl="1"/>
            <a:r>
              <a:rPr lang="en-US" b="1" dirty="0"/>
              <a:t>Speech-to-Text</a:t>
            </a:r>
            <a:r>
              <a:rPr lang="en-US" dirty="0"/>
              <a:t>: Whisper is used to convert patient speech into text for the FAQ system.</a:t>
            </a:r>
          </a:p>
          <a:p>
            <a:pPr lvl="1"/>
            <a:r>
              <a:rPr lang="en-US" b="1" dirty="0"/>
              <a:t>Technologies Used</a:t>
            </a:r>
            <a:r>
              <a:rPr lang="en-US" dirty="0"/>
              <a:t>: </a:t>
            </a:r>
            <a:r>
              <a:rPr lang="en-US" dirty="0" err="1"/>
              <a:t>FastAPI</a:t>
            </a:r>
            <a:r>
              <a:rPr lang="en-US" dirty="0"/>
              <a:t> for backend, Whisper for speech recognition, RAG for FAQ response retrieval, and WebSocket for communication with Pepper.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2019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DF753-C839-7C55-D706-2478CC87A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4 – About (Overview)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41046-EE65-BDD9-29BA-7029592BE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</a:t>
            </a:r>
            <a:r>
              <a:rPr lang="en-US" dirty="0"/>
              <a:t>: Feature 4 – About</a:t>
            </a:r>
          </a:p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Purpose</a:t>
            </a:r>
            <a:r>
              <a:rPr lang="en-US" dirty="0"/>
              <a:t>: Provides an introduction to Pepper and its capabilities.</a:t>
            </a:r>
          </a:p>
          <a:p>
            <a:pPr lvl="1"/>
            <a:r>
              <a:rPr lang="en-US" b="1" dirty="0"/>
              <a:t>User Interaction</a:t>
            </a:r>
            <a:r>
              <a:rPr lang="en-US" dirty="0"/>
              <a:t>: Patients tap "About" to get information on how to interact with the robot and its features.</a:t>
            </a:r>
          </a:p>
          <a:p>
            <a:pPr lvl="1"/>
            <a:r>
              <a:rPr lang="en-US" b="1" dirty="0"/>
              <a:t>Benefit</a:t>
            </a:r>
            <a:r>
              <a:rPr lang="en-US" dirty="0"/>
              <a:t>: Enhances patient understanding of how to use the robot and its functionalities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218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95AD2-ADE3-CC3A-D8A3-086CDB23E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5 – Book Appointment (Overview)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B9D6A-83D0-349A-BE0A-2E28BEF2A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</a:t>
            </a:r>
            <a:r>
              <a:rPr lang="en-US" dirty="0"/>
              <a:t>: Feature 5 – Book Appointment</a:t>
            </a:r>
          </a:p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Purpose</a:t>
            </a:r>
            <a:r>
              <a:rPr lang="en-US" dirty="0"/>
              <a:t>: Allows patients to book an appointment with the hospital.</a:t>
            </a:r>
          </a:p>
          <a:p>
            <a:pPr lvl="1"/>
            <a:r>
              <a:rPr lang="en-US" b="1" dirty="0"/>
              <a:t>User Interaction</a:t>
            </a:r>
            <a:r>
              <a:rPr lang="en-US" dirty="0"/>
              <a:t>: Patients tap the "Book Appointment" button, enter required details (name, time, etc.), and book an appointment.</a:t>
            </a:r>
          </a:p>
          <a:p>
            <a:pPr lvl="1"/>
            <a:r>
              <a:rPr lang="en-US" b="1" dirty="0"/>
              <a:t>Benefit</a:t>
            </a:r>
            <a:r>
              <a:rPr lang="en-US" dirty="0"/>
              <a:t>: Streamlines the appointment booking process, making it more accessible for patients.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7399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FBACB-FC34-9E1B-1EB2-6815F5AFD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Feature 5 – Book Appointment (Technical Implementation)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28989-DAF1-787C-1B56-026E22583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</a:t>
            </a:r>
            <a:r>
              <a:rPr lang="en-US" dirty="0"/>
              <a:t>: Feature 5 – Book Appointment (Technical Details)</a:t>
            </a:r>
          </a:p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Backend Integration</a:t>
            </a:r>
            <a:r>
              <a:rPr lang="en-US" dirty="0"/>
              <a:t>: The backend validates the appointment details and stores the new appointment in the database.</a:t>
            </a:r>
          </a:p>
          <a:p>
            <a:pPr lvl="1"/>
            <a:r>
              <a:rPr lang="en-US" b="1" dirty="0"/>
              <a:t>UI Interaction</a:t>
            </a:r>
            <a:r>
              <a:rPr lang="en-US" dirty="0"/>
              <a:t>: The tablet displays a booking form that collects necessary information.</a:t>
            </a:r>
          </a:p>
          <a:p>
            <a:pPr lvl="1"/>
            <a:r>
              <a:rPr lang="en-US" b="1" dirty="0"/>
              <a:t>Technologies Used</a:t>
            </a:r>
            <a:r>
              <a:rPr lang="en-US" dirty="0"/>
              <a:t>: </a:t>
            </a:r>
            <a:r>
              <a:rPr lang="en-US" dirty="0" err="1"/>
              <a:t>FastAPI</a:t>
            </a:r>
            <a:r>
              <a:rPr lang="en-US" dirty="0"/>
              <a:t> for appointment booking API, </a:t>
            </a:r>
            <a:r>
              <a:rPr lang="en-US" dirty="0" err="1"/>
              <a:t>SQLAlchemy</a:t>
            </a:r>
            <a:r>
              <a:rPr lang="en-US" dirty="0"/>
              <a:t> for storing appointment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855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E9F91-6571-6DBA-59C5-131C90B61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6 – Check Schedule (Overview)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9B3F6-EF89-4DA9-5232-A5EB3DF61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</a:t>
            </a:r>
            <a:r>
              <a:rPr lang="en-US" dirty="0"/>
              <a:t>: Feature 6 – Check Schedule</a:t>
            </a:r>
          </a:p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Purpose</a:t>
            </a:r>
            <a:r>
              <a:rPr lang="en-US" dirty="0"/>
              <a:t>: Allows patients to check available schedules for doctors.</a:t>
            </a:r>
          </a:p>
          <a:p>
            <a:pPr lvl="1"/>
            <a:r>
              <a:rPr lang="en-US" b="1" dirty="0"/>
              <a:t>User Interaction</a:t>
            </a:r>
            <a:r>
              <a:rPr lang="en-US" dirty="0"/>
              <a:t>: Patients select a doctor and view available slots.</a:t>
            </a:r>
          </a:p>
          <a:p>
            <a:pPr lvl="1"/>
            <a:r>
              <a:rPr lang="en-US" b="1" dirty="0"/>
              <a:t>Benefit</a:t>
            </a:r>
            <a:r>
              <a:rPr lang="en-US" dirty="0"/>
              <a:t>: Makes it easy for patients to check doctor availability and plan their visit accordingly.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77778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A5C72-DDB8-B8A5-D48A-CC1012868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Feature 6 – Check Schedule (Technical Implementation)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5E11F-8499-0CEE-B4A6-0E058BE6A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</a:t>
            </a:r>
            <a:r>
              <a:rPr lang="en-US" dirty="0"/>
              <a:t>: Feature 6 – Check Schedule (Technical Details)</a:t>
            </a:r>
          </a:p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Backend Integration</a:t>
            </a:r>
            <a:r>
              <a:rPr lang="en-US" dirty="0"/>
              <a:t>: The backend fetches the doctor's schedule from the database and provides available time slots.</a:t>
            </a:r>
          </a:p>
          <a:p>
            <a:pPr lvl="1"/>
            <a:r>
              <a:rPr lang="en-US" b="1" dirty="0"/>
              <a:t>UI Display</a:t>
            </a:r>
            <a:r>
              <a:rPr lang="en-US" dirty="0"/>
              <a:t>: The tablet displays available schedules in a user-friendly format.</a:t>
            </a:r>
          </a:p>
          <a:p>
            <a:pPr lvl="1"/>
            <a:r>
              <a:rPr lang="en-US" b="1" dirty="0"/>
              <a:t>Technologies Used</a:t>
            </a:r>
            <a:r>
              <a:rPr lang="en-US" dirty="0"/>
              <a:t>: </a:t>
            </a:r>
            <a:r>
              <a:rPr lang="en-US" dirty="0" err="1"/>
              <a:t>FastAPI</a:t>
            </a:r>
            <a:r>
              <a:rPr lang="en-US" dirty="0"/>
              <a:t> for fetching doctor schedules, </a:t>
            </a:r>
            <a:r>
              <a:rPr lang="en-US" dirty="0" err="1"/>
              <a:t>SQLAlchemy</a:t>
            </a:r>
            <a:r>
              <a:rPr lang="en-US" dirty="0"/>
              <a:t> for database queries.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943424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1D6ED-12E5-1FB7-8E98-BDE969128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7 – Guide to Room (Overview)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9A0EC-9EDA-0091-AB64-E359DDF98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</a:t>
            </a:r>
            <a:r>
              <a:rPr lang="en-US" dirty="0"/>
              <a:t>: Feature 7 – Guide to Room</a:t>
            </a:r>
          </a:p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Purpose</a:t>
            </a:r>
            <a:r>
              <a:rPr lang="en-US" dirty="0"/>
              <a:t>: Helps patients navigate through the hospital and find their designated room or department.</a:t>
            </a:r>
          </a:p>
          <a:p>
            <a:pPr lvl="1"/>
            <a:r>
              <a:rPr lang="en-US" b="1" dirty="0"/>
              <a:t>User Interaction</a:t>
            </a:r>
            <a:r>
              <a:rPr lang="en-US" dirty="0"/>
              <a:t>: Patients tap the "Guide to Room" button, and Pepper provides directions.</a:t>
            </a:r>
          </a:p>
          <a:p>
            <a:pPr lvl="1"/>
            <a:r>
              <a:rPr lang="en-US" b="1" dirty="0"/>
              <a:t>Benefit</a:t>
            </a:r>
            <a:r>
              <a:rPr lang="en-US" dirty="0"/>
              <a:t>: Reduces confusion and improves the patient experience by guiding them to the right location.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355925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7EC41-BE98-721C-9902-159FE832F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Feature 7 – Guide to Room (Technical Implementation)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A9280-FAD1-B0DC-B257-7E16074DA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</a:t>
            </a:r>
            <a:r>
              <a:rPr lang="en-US" dirty="0"/>
              <a:t>: Feature 7 – Guide to Room (Technical Details)</a:t>
            </a:r>
          </a:p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Backend Integration</a:t>
            </a:r>
            <a:r>
              <a:rPr lang="en-US" dirty="0"/>
              <a:t>: The backend provides the directions based on the patient's location and destination.</a:t>
            </a:r>
          </a:p>
          <a:p>
            <a:pPr lvl="1"/>
            <a:r>
              <a:rPr lang="en-US" b="1" dirty="0"/>
              <a:t>UI Interaction</a:t>
            </a:r>
            <a:r>
              <a:rPr lang="en-US" dirty="0"/>
              <a:t>: The tablet displays a map or directions on the screen.</a:t>
            </a:r>
          </a:p>
          <a:p>
            <a:pPr lvl="1"/>
            <a:r>
              <a:rPr lang="en-US" b="1" dirty="0"/>
              <a:t>Technologies Used</a:t>
            </a:r>
            <a:r>
              <a:rPr lang="en-US" dirty="0"/>
              <a:t>: WebSocket to send directions to the tablet, mapping data integration.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4129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80C53-F6D4-7BEC-5D62-6705E36D5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: Feature 8 – Emergency (Overview)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F7971-1A37-A5A6-EDFD-E68C9505E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</a:t>
            </a:r>
            <a:r>
              <a:rPr lang="en-US" dirty="0"/>
              <a:t>: Feature 8 – Emergency</a:t>
            </a:r>
          </a:p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Purpose</a:t>
            </a:r>
            <a:r>
              <a:rPr lang="en-US" dirty="0"/>
              <a:t>: Enables patients to trigger an emergency alert if they need immediate assistance.</a:t>
            </a:r>
          </a:p>
          <a:p>
            <a:pPr lvl="1"/>
            <a:r>
              <a:rPr lang="en-US" b="1" dirty="0"/>
              <a:t>User Interaction</a:t>
            </a:r>
            <a:r>
              <a:rPr lang="en-US" dirty="0"/>
              <a:t>: Patients tap the "Emergency" button, and an alert is triggered.</a:t>
            </a:r>
          </a:p>
          <a:p>
            <a:pPr lvl="1"/>
            <a:r>
              <a:rPr lang="en-US" b="1" dirty="0"/>
              <a:t>Benefit</a:t>
            </a:r>
            <a:r>
              <a:rPr lang="en-US" dirty="0"/>
              <a:t>: Provides a quick way for patients to alert hospital staff to urgent situations.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44539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3AA2A-43EF-FA26-806D-298886DFB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Feature 8 – Emergency (Technical Implementation)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952C2-B282-E3E6-2839-1A8AD7EB3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</a:t>
            </a:r>
            <a:r>
              <a:rPr lang="en-US" dirty="0"/>
              <a:t>: Feature 8 – Emergency (Technical Details)</a:t>
            </a:r>
          </a:p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Backend Integration</a:t>
            </a:r>
            <a:r>
              <a:rPr lang="en-US" dirty="0"/>
              <a:t>: The backend triggers an alert to the hospital staff when the emergency button is pressed.</a:t>
            </a:r>
          </a:p>
          <a:p>
            <a:pPr lvl="1"/>
            <a:r>
              <a:rPr lang="en-US" b="1" dirty="0"/>
              <a:t>UI Interaction</a:t>
            </a:r>
            <a:r>
              <a:rPr lang="en-US" dirty="0"/>
              <a:t>: The tablet displays a confirmation message and sends the alert.</a:t>
            </a:r>
          </a:p>
          <a:p>
            <a:pPr lvl="1"/>
            <a:r>
              <a:rPr lang="en-US" b="1" dirty="0"/>
              <a:t>Technologies Used</a:t>
            </a:r>
            <a:r>
              <a:rPr lang="en-US" dirty="0"/>
              <a:t>: WebSocket communication to trigger the emergency alert and backend API for notifying hospital staff.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538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B6D30-D4D7-AF08-3B21-DA8D5F63C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Triage Logic and Nurse Alert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2A7C2-0956-F6EF-215A-F5ADF0431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</a:t>
            </a:r>
            <a:r>
              <a:rPr lang="en-US" dirty="0"/>
              <a:t>: Triage Logic and Nurse Alert System</a:t>
            </a:r>
          </a:p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Triage Logic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Simple yes/no questions are asked to assess the severity of symptoms.</a:t>
            </a:r>
          </a:p>
          <a:p>
            <a:pPr lvl="2"/>
            <a:r>
              <a:rPr lang="en-US" dirty="0"/>
              <a:t>A rule-based scoring system determines whether the case is urgent or not.</a:t>
            </a:r>
          </a:p>
          <a:p>
            <a:pPr lvl="1"/>
            <a:r>
              <a:rPr lang="en-US" b="1" dirty="0"/>
              <a:t>Nurse Alerts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If the triage score indicates a high-risk case, a nurse alert is triggered.</a:t>
            </a:r>
          </a:p>
          <a:p>
            <a:pPr lvl="2"/>
            <a:r>
              <a:rPr lang="en-US" b="1" dirty="0"/>
              <a:t>Alert Mechanism</a:t>
            </a:r>
            <a:r>
              <a:rPr lang="en-US" dirty="0"/>
              <a:t>: Pepper announces the alert and optionally sends a notification to hospital staff.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9185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36F69-2D95-3AD4-5DF8-29B667459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 Faced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702CC-8886-7592-2AB0-CA9EF4AE0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</a:t>
            </a:r>
            <a:r>
              <a:rPr lang="en-US" dirty="0"/>
              <a:t>: Challenges and Solutions</a:t>
            </a:r>
          </a:p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Speech Recognition in Noisy Environments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Solution: Use Whisper with noise reduction techniques and optimize mic sensitivity.</a:t>
            </a:r>
          </a:p>
          <a:p>
            <a:pPr lvl="1"/>
            <a:r>
              <a:rPr lang="en-US" b="1" dirty="0"/>
              <a:t>Bilingual Support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Solution: Ensure Whisper is capable of recognizing both Arabic and English queries accurately.</a:t>
            </a:r>
          </a:p>
          <a:p>
            <a:pPr lvl="1"/>
            <a:r>
              <a:rPr lang="en-US" b="1" dirty="0"/>
              <a:t>System Integration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Solution: Extensive testing to ensure smooth communication between the robot, backend server, and UI.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798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7CAE8A-14CC-7ACE-74CD-3ACA85B4E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Implementation Timeline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BFE1F72-511B-6B40-2D1D-1F30995C27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5902840"/>
              </p:ext>
            </p:extLst>
          </p:nvPr>
        </p:nvGraphicFramePr>
        <p:xfrm>
          <a:off x="838200" y="2492191"/>
          <a:ext cx="10515601" cy="3420669"/>
        </p:xfrm>
        <a:graphic>
          <a:graphicData uri="http://schemas.openxmlformats.org/drawingml/2006/table">
            <a:tbl>
              <a:tblPr/>
              <a:tblGrid>
                <a:gridCol w="4257324">
                  <a:extLst>
                    <a:ext uri="{9D8B030D-6E8A-4147-A177-3AD203B41FA5}">
                      <a16:colId xmlns:a16="http://schemas.microsoft.com/office/drawing/2014/main" val="480509620"/>
                    </a:ext>
                  </a:extLst>
                </a:gridCol>
                <a:gridCol w="1983522">
                  <a:extLst>
                    <a:ext uri="{9D8B030D-6E8A-4147-A177-3AD203B41FA5}">
                      <a16:colId xmlns:a16="http://schemas.microsoft.com/office/drawing/2014/main" val="1490003803"/>
                    </a:ext>
                  </a:extLst>
                </a:gridCol>
                <a:gridCol w="4274755">
                  <a:extLst>
                    <a:ext uri="{9D8B030D-6E8A-4147-A177-3AD203B41FA5}">
                      <a16:colId xmlns:a16="http://schemas.microsoft.com/office/drawing/2014/main" val="1888153616"/>
                    </a:ext>
                  </a:extLst>
                </a:gridCol>
              </a:tblGrid>
              <a:tr h="4886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Phase</a:t>
                      </a:r>
                    </a:p>
                  </a:txBody>
                  <a:tcPr marL="111061" marR="111061" marT="55530" marB="555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Weeks</a:t>
                      </a:r>
                    </a:p>
                  </a:txBody>
                  <a:tcPr marL="111061" marR="111061" marT="55530" marB="555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Focus</a:t>
                      </a:r>
                    </a:p>
                  </a:txBody>
                  <a:tcPr marL="111061" marR="111061" marT="55530" marB="555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076262"/>
                  </a:ext>
                </a:extLst>
              </a:tr>
              <a:tr h="4886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Kickoff &amp; Setup</a:t>
                      </a:r>
                    </a:p>
                  </a:txBody>
                  <a:tcPr marL="111061" marR="111061" marT="55530" marB="555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1–2</a:t>
                      </a:r>
                    </a:p>
                  </a:txBody>
                  <a:tcPr marL="111061" marR="111061" marT="55530" marB="555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Environment, role assignments</a:t>
                      </a:r>
                    </a:p>
                  </a:txBody>
                  <a:tcPr marL="111061" marR="111061" marT="55530" marB="555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769163"/>
                  </a:ext>
                </a:extLst>
              </a:tr>
              <a:tr h="4886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Core Dev</a:t>
                      </a:r>
                    </a:p>
                  </a:txBody>
                  <a:tcPr marL="111061" marR="111061" marT="55530" marB="555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3–5</a:t>
                      </a:r>
                    </a:p>
                  </a:txBody>
                  <a:tcPr marL="111061" marR="111061" marT="55530" marB="555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Backend, UI, RAG, Triage</a:t>
                      </a:r>
                    </a:p>
                  </a:txBody>
                  <a:tcPr marL="111061" marR="111061" marT="55530" marB="555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135471"/>
                  </a:ext>
                </a:extLst>
              </a:tr>
              <a:tr h="4886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Integration &amp; Mid-Demo</a:t>
                      </a:r>
                    </a:p>
                  </a:txBody>
                  <a:tcPr marL="111061" marR="111061" marT="55530" marB="555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 dirty="0">
                          <a:effectLst/>
                          <a:latin typeface="Arial" panose="020B0604020202020204" pitchFamily="34" charset="0"/>
                        </a:rPr>
                        <a:t>6–15</a:t>
                      </a:r>
                    </a:p>
                  </a:txBody>
                  <a:tcPr marL="111061" marR="111061" marT="55530" marB="555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 dirty="0">
                          <a:effectLst/>
                          <a:latin typeface="Arial" panose="020B0604020202020204" pitchFamily="34" charset="0"/>
                        </a:rPr>
                        <a:t>Voice, bilingual FAQ, check-in</a:t>
                      </a:r>
                    </a:p>
                  </a:txBody>
                  <a:tcPr marL="111061" marR="111061" marT="55530" marB="555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39275"/>
                  </a:ext>
                </a:extLst>
              </a:tr>
              <a:tr h="4886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Expansion</a:t>
                      </a:r>
                    </a:p>
                  </a:txBody>
                  <a:tcPr marL="111061" marR="111061" marT="55530" marB="555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 dirty="0">
                          <a:effectLst/>
                          <a:latin typeface="Arial" panose="020B0604020202020204" pitchFamily="34" charset="0"/>
                        </a:rPr>
                        <a:t>15–22</a:t>
                      </a:r>
                    </a:p>
                  </a:txBody>
                  <a:tcPr marL="111061" marR="111061" marT="55530" marB="555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Triage conversation, nurse alert</a:t>
                      </a:r>
                    </a:p>
                  </a:txBody>
                  <a:tcPr marL="111061" marR="111061" marT="55530" marB="555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348232"/>
                  </a:ext>
                </a:extLst>
              </a:tr>
              <a:tr h="4886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Pilot Deployment</a:t>
                      </a:r>
                    </a:p>
                  </a:txBody>
                  <a:tcPr marL="111061" marR="111061" marT="55530" marB="555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 dirty="0">
                          <a:effectLst/>
                          <a:latin typeface="Arial" panose="020B0604020202020204" pitchFamily="34" charset="0"/>
                        </a:rPr>
                        <a:t>23-25</a:t>
                      </a:r>
                    </a:p>
                  </a:txBody>
                  <a:tcPr marL="111061" marR="111061" marT="55530" marB="555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Hospital testing &amp; evaluation</a:t>
                      </a:r>
                    </a:p>
                  </a:txBody>
                  <a:tcPr marL="111061" marR="111061" marT="55530" marB="555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97314"/>
                  </a:ext>
                </a:extLst>
              </a:tr>
              <a:tr h="4886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Finalization</a:t>
                      </a:r>
                    </a:p>
                  </a:txBody>
                  <a:tcPr marL="111061" marR="111061" marT="55530" marB="555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 dirty="0">
                          <a:effectLst/>
                          <a:latin typeface="Arial" panose="020B0604020202020204" pitchFamily="34" charset="0"/>
                        </a:rPr>
                        <a:t>26-30</a:t>
                      </a:r>
                    </a:p>
                  </a:txBody>
                  <a:tcPr marL="111061" marR="111061" marT="55530" marB="555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 dirty="0">
                          <a:effectLst/>
                          <a:latin typeface="Arial" panose="020B0604020202020204" pitchFamily="34" charset="0"/>
                        </a:rPr>
                        <a:t>Report, final demo, handover</a:t>
                      </a:r>
                    </a:p>
                  </a:txBody>
                  <a:tcPr marL="111061" marR="111061" marT="55530" marB="555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316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3850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9F714-9959-90D7-A19D-C1C1E74D9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Testing and Pilot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2D5F-B780-E2E5-27EB-2F9335BC4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</a:t>
            </a:r>
            <a:r>
              <a:rPr lang="en-US" dirty="0"/>
              <a:t>: Testing and Pilot Deployment</a:t>
            </a:r>
          </a:p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Pilot Testing at Andalusia Hospital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Deployed Pepper for real-world testing in a hospital setting.</a:t>
            </a:r>
          </a:p>
          <a:p>
            <a:pPr lvl="2"/>
            <a:r>
              <a:rPr lang="en-US" dirty="0"/>
              <a:t>Focused on patient check-ins, FAQ responses, and triage functionality.</a:t>
            </a:r>
          </a:p>
          <a:p>
            <a:pPr lvl="1"/>
            <a:r>
              <a:rPr lang="en-US" b="1" dirty="0"/>
              <a:t>Results</a:t>
            </a:r>
            <a:r>
              <a:rPr lang="en-US" dirty="0"/>
              <a:t>: Positive feedback from hospital staff, with improvements suggested for better integration with the hospital’s existing systems.</a:t>
            </a:r>
          </a:p>
          <a:p>
            <a:pPr lvl="1"/>
            <a:r>
              <a:rPr lang="en-US" b="1" dirty="0"/>
              <a:t>Metrics Collected</a:t>
            </a:r>
            <a:r>
              <a:rPr lang="en-US" dirty="0"/>
              <a:t>: Response time, patient satisfaction, and error rates.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3271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99523-DF77-7EDB-4733-5DBE020B5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1BB76-E364-1629-CCB8-62EBEE368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</a:t>
            </a:r>
            <a:r>
              <a:rPr lang="en-US" dirty="0"/>
              <a:t>: Conclusion</a:t>
            </a:r>
          </a:p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Pepper Medical Assistance Robot improves patient interactions in healthcare settings by providing assistance with check-ins, FAQs, triage, and alerts.</a:t>
            </a:r>
          </a:p>
          <a:p>
            <a:pPr lvl="1"/>
            <a:r>
              <a:rPr lang="en-US" dirty="0"/>
              <a:t>The project demonstrates the potential of robots in enhancing hospital efficiency and patient experience.</a:t>
            </a:r>
          </a:p>
          <a:p>
            <a:pPr lvl="1"/>
            <a:r>
              <a:rPr lang="en-US" dirty="0"/>
              <a:t>With future enhancements, Pepper could become a valuable tool for various healthcare tasks, reducing human workload and improving service delivery.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5447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20DBD-4AC8-4E0E-028F-EDC47C113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Acknowledgements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CD979-85F0-5BD2-EC60-7DC5D1C9D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</a:t>
            </a:r>
            <a:r>
              <a:rPr lang="en-US" dirty="0"/>
              <a:t>: Acknowledgements</a:t>
            </a:r>
          </a:p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Special thanks to </a:t>
            </a:r>
            <a:r>
              <a:rPr lang="en-US" b="1" dirty="0"/>
              <a:t>Andalusia Hospital</a:t>
            </a:r>
            <a:r>
              <a:rPr lang="en-US" dirty="0"/>
              <a:t> for their collaboration in testing the system.</a:t>
            </a:r>
          </a:p>
          <a:p>
            <a:pPr lvl="1"/>
            <a:r>
              <a:rPr lang="en-US" dirty="0"/>
              <a:t>Appreciation for the support from </a:t>
            </a:r>
            <a:r>
              <a:rPr lang="en-US" b="1" dirty="0"/>
              <a:t>faculty mentors</a:t>
            </a:r>
            <a:r>
              <a:rPr lang="en-US" dirty="0"/>
              <a:t> and the </a:t>
            </a:r>
            <a:r>
              <a:rPr lang="en-US" b="1" dirty="0"/>
              <a:t>College of Artificial Intelligence</a:t>
            </a:r>
            <a:r>
              <a:rPr lang="en-US" dirty="0"/>
              <a:t> at AAST.</a:t>
            </a:r>
          </a:p>
          <a:p>
            <a:pPr lvl="1"/>
            <a:r>
              <a:rPr lang="en-US" dirty="0"/>
              <a:t>Gratitude to </a:t>
            </a:r>
            <a:r>
              <a:rPr lang="en-US" b="1" dirty="0"/>
              <a:t>team members</a:t>
            </a:r>
            <a:r>
              <a:rPr lang="en-US" dirty="0"/>
              <a:t> for their hard work and dedication throughout the project.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296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62826-5277-F94F-178E-F3588E484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Questions &amp; Answers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8272A-A772-515D-541C-95803BDF8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</a:t>
            </a:r>
            <a:r>
              <a:rPr lang="en-US" dirty="0"/>
              <a:t>: Questions &amp; Answers</a:t>
            </a:r>
          </a:p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"Thank you for your attention. I am happy to answer any questions you may have."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1423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5D7D75-9D92-8612-3E6B-5AF80B507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58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2423</Words>
  <Application>Microsoft Office PowerPoint</Application>
  <PresentationFormat>Widescreen</PresentationFormat>
  <Paragraphs>261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Aptos</vt:lpstr>
      <vt:lpstr>Aptos Display</vt:lpstr>
      <vt:lpstr>Arial</vt:lpstr>
      <vt:lpstr>Office Theme</vt:lpstr>
      <vt:lpstr>Pepper Medical Assistance Robot</vt:lpstr>
      <vt:lpstr>Team Members</vt:lpstr>
      <vt:lpstr>Objectives</vt:lpstr>
      <vt:lpstr>Why Choose Pepper</vt:lpstr>
      <vt:lpstr>Project Goal</vt:lpstr>
      <vt:lpstr>Project Vision</vt:lpstr>
      <vt:lpstr>Core Features</vt:lpstr>
      <vt:lpstr>Future Work</vt:lpstr>
      <vt:lpstr>Why Robotics in HealthCare</vt:lpstr>
      <vt:lpstr>Advanced AI Features</vt:lpstr>
      <vt:lpstr>System Architecture</vt:lpstr>
      <vt:lpstr>How Did We Do It? – Initial Setup </vt:lpstr>
      <vt:lpstr>System Components</vt:lpstr>
      <vt:lpstr>Integration of Speech Recognition (Whisper) </vt:lpstr>
      <vt:lpstr>WebSocket Communication</vt:lpstr>
      <vt:lpstr>Tablet Interface Design</vt:lpstr>
      <vt:lpstr>My Appointments </vt:lpstr>
      <vt:lpstr>My Appointments (Technical Details) </vt:lpstr>
      <vt:lpstr>Health Tips (Overview)</vt:lpstr>
      <vt:lpstr>Health Tips (Technical Implementation)</vt:lpstr>
      <vt:lpstr>Chat/FAQ (Overview)</vt:lpstr>
      <vt:lpstr>Feature 3 – Chat/FAQ (Technical Implementation) </vt:lpstr>
      <vt:lpstr>Feature 4 – About (Overview)</vt:lpstr>
      <vt:lpstr>Feature 5 – Book Appointment (Overview)</vt:lpstr>
      <vt:lpstr>Feature 5 – Book Appointment (Technical Implementation)</vt:lpstr>
      <vt:lpstr>Feature 6 – Check Schedule (Overview)</vt:lpstr>
      <vt:lpstr>Feature 6 – Check Schedule (Technical Implementation)</vt:lpstr>
      <vt:lpstr>Feature 7 – Guide to Room (Overview)</vt:lpstr>
      <vt:lpstr>Feature 7 – Guide to Room (Technical Implementation)</vt:lpstr>
      <vt:lpstr>: Feature 8 – Emergency (Overview)</vt:lpstr>
      <vt:lpstr>Feature 8 – Emergency (Technical Implementation)</vt:lpstr>
      <vt:lpstr>Triage Logic and Nurse Alert System</vt:lpstr>
      <vt:lpstr>Challenges Faced </vt:lpstr>
      <vt:lpstr>Implementation Timeline</vt:lpstr>
      <vt:lpstr>Testing and Pilot</vt:lpstr>
      <vt:lpstr>Conclusion</vt:lpstr>
      <vt:lpstr>Acknowledgements</vt:lpstr>
      <vt:lpstr>Questions &amp; Answers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Aly Mohamed</dc:creator>
  <cp:lastModifiedBy>Aly Mohamed</cp:lastModifiedBy>
  <cp:revision>9</cp:revision>
  <dcterms:created xsi:type="dcterms:W3CDTF">2025-10-13T16:38:08Z</dcterms:created>
  <dcterms:modified xsi:type="dcterms:W3CDTF">2025-12-20T14:52:40Z</dcterms:modified>
</cp:coreProperties>
</file>